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84" r:id="rId10"/>
    <p:sldId id="285" r:id="rId11"/>
    <p:sldId id="286" r:id="rId12"/>
    <p:sldId id="283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E466BD-F8AB-40A1-86F3-D2502818C663}" v="25" dt="2025-11-10T15:18:48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71643-B3CA-89E2-5C57-F24AE3788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763FDB-76C1-6139-4358-1041D9A87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E62C534-E347-D2FF-2E9B-6FD793AA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F2071E3-A5AA-A174-DF67-4BAA009E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D8DD199-A37D-6FA6-27C7-5116F7EC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421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78D05-F0B0-45F4-C6A0-A5926EFF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9BCC6E4-84ED-7BB0-E82D-EA2B12B60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0C10C93-11F6-512B-64FE-8660FEEC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DD545FA-8AE5-65C6-8C84-782F3364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55FCC58-E0E9-2546-66A1-5D7D46DC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3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3962F-7661-702B-0D54-370E0B68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0C2743E-B274-BC23-E710-3DCE279C7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611C86-79D1-E329-DDBB-321F8101F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6D09DBD-1C87-7761-ED6C-6B06434F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F29D1EC-0335-EE37-7A00-1117D77D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878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9CE55-1E1D-F291-E3D2-29C5F292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CDC68C4-E465-33C2-5663-86D7F0B60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E91AFA9-12DA-3C8F-B775-94235A8A1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16CD945-E943-401E-C6F2-FDA5FD84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8D5C766-47D3-0CA5-8664-3AFDC0C8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2A965FB-4C7A-08AA-8EFA-3B4CFEDC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422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2953-B234-54A4-8514-670887E4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E761736-1DF5-440A-9E5B-B595D6E6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B56BDAE-D6D0-6DC4-54A4-C08D533D0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6B03345-4931-F272-0BDD-1F8D7867B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E5907FC-DB24-ED0A-8CD3-AF13E7CF0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A0B53A5-67C6-B2F1-97F2-B9A8F410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F7AEB38-48F4-C59C-0DBD-08EC48C8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F9E8337-C02B-9680-1429-FA96C549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672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EBD70-A6C2-1B61-A107-7773CD04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E3C48A4-41EB-619B-ABBA-964D612D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2374B7A-E5E2-A5AC-14BE-73772E9D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7267E0F-DA43-17E2-431E-ADE5EEF3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678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2CD5FF45-E359-0251-EA8E-3DA7E855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7610D83-BDBD-A475-4AE6-6B26A8FE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A23DE06-A07E-D212-94AD-9684D954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769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178A1-0CF1-9FFD-0B58-1A7FA0C3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B095F9D-93D0-010C-3408-2A14FE1B1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B11B15D-C7BC-3880-10D2-18C151F91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91FCA64-E12A-94CA-869A-27D18801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0E948C2-B131-87BB-5671-B69AF3B9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04615D3-256F-3D9D-C9A5-9C4450B7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271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C13B1-4BB7-5329-117C-57B8A201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B3812988-AC8F-6111-E592-A825196ED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7F08AA9-7A14-C9A4-BBCB-02718AE34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70C511D-8041-77AA-C755-DBBDE5BC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13891D1-F348-8320-A1DF-863517D9C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DFBA636-9831-0C24-3FCB-7A9EAE75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029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67F6E-8DE1-9358-4447-6893B4D8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80C1219-1561-7B1F-4D69-90773EC1E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E403887-62C1-6EDE-36D0-BF1DFD4C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B865E5D-E612-3749-5A8C-ACB45D35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C21C7B-0AF1-D1F4-C413-D6D0E379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399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370003-7AF9-EA48-99FC-19F80582A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191D3C1-8F25-0AF5-EA78-67CB826DA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085634-FF08-CBC0-B5CB-DC8B1969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6F2DA01-FF1F-BF84-E34D-C4B7CC16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E3F6C0-70C1-8D65-5FCB-C56D1E5F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211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791B2C9-1339-1097-D0FA-DEC03A51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222B07A-B381-9C68-94CC-9E9568531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7CE899D-4718-5897-6C0E-47509BD8A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0EC24-8CB0-47CE-8B1B-31FCBBBA20C0}" type="datetimeFigureOut">
              <a:rPr lang="pt-PT" smtClean="0"/>
              <a:t>10/11/2025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24D1500-AE2B-A278-DDD1-09D08274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4DDF188-910D-C924-2FCF-3E72A9244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E1FA0-B875-40D6-8CE2-6EFFF0749B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020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3D7C1-6DA6-55D4-89C2-A58AE4475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pt-PT" sz="4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1 – Grupo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7DF027-3FFE-E062-A32E-43838B3F0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pt-PT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 </a:t>
            </a:r>
            <a:r>
              <a:rPr lang="pt-PT" sz="2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VetGestLink</a:t>
            </a:r>
            <a:r>
              <a:rPr lang="pt-PT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entrega  da Etapa 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m 4" descr="Uma imagem com cão, Gráficos, design&#10;&#10;Os conteúdos gerados por IA podem estar incorretos.">
            <a:extLst>
              <a:ext uri="{FF2B5EF4-FFF2-40B4-BE49-F238E27FC236}">
                <a16:creationId xmlns:a16="http://schemas.microsoft.com/office/drawing/2014/main" id="{663148D6-6353-9F28-E020-E1F3C176C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05" y="2570293"/>
            <a:ext cx="2556241" cy="2556241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0CFB39DC-7811-CFC4-C93A-5FA27D0669E7}"/>
              </a:ext>
            </a:extLst>
          </p:cNvPr>
          <p:cNvSpPr txBox="1">
            <a:spLocks/>
          </p:cNvSpPr>
          <p:nvPr/>
        </p:nvSpPr>
        <p:spPr>
          <a:xfrm>
            <a:off x="7314442" y="5942937"/>
            <a:ext cx="4771541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PT" sz="15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Pedro Pereira, nº2241606</a:t>
            </a:r>
            <a:br>
              <a:rPr lang="pt-PT" sz="15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</a:br>
            <a:r>
              <a:rPr lang="pt-PT" sz="15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Wilson Campos, nº</a:t>
            </a:r>
            <a:r>
              <a:rPr lang="en-US" sz="1500" dirty="0">
                <a:latin typeface="+mj-lt"/>
              </a:rPr>
              <a:t>2240115</a:t>
            </a:r>
            <a:br>
              <a:rPr lang="en-US" sz="1500" dirty="0">
                <a:latin typeface="+mj-lt"/>
              </a:rPr>
            </a:br>
            <a:r>
              <a:rPr lang="pt-PT" sz="15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Hugo Gonçalves, nº</a:t>
            </a:r>
            <a:r>
              <a:rPr lang="en-US" sz="1500" dirty="0">
                <a:latin typeface="+mj-lt"/>
              </a:rPr>
              <a:t>2220891</a:t>
            </a:r>
            <a:endParaRPr lang="pt-PT" sz="15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2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DC4F61-2EE9-0025-23B4-1789983BD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482" y="2005136"/>
            <a:ext cx="5448730" cy="2387918"/>
          </a:xfrm>
        </p:spPr>
        <p:txBody>
          <a:bodyPr anchor="b">
            <a:normAutofit/>
          </a:bodyPr>
          <a:lstStyle/>
          <a:p>
            <a:r>
              <a:rPr lang="pt-PT" sz="5200" dirty="0">
                <a:solidFill>
                  <a:schemeClr val="tx2"/>
                </a:solidFill>
              </a:rPr>
              <a:t>Contextualização do Projeto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692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F966A1-C566-810E-7D31-D6646B39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pt-PT" sz="3600" b="1">
                <a:solidFill>
                  <a:schemeClr val="tx2"/>
                </a:solidFill>
              </a:rPr>
              <a:t>Sobre o VetGestLink</a:t>
            </a:r>
            <a:endParaRPr lang="pt-PT" sz="36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0B8FD2D-FFF0-7DEA-42AE-B3717BBD7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pPr algn="just"/>
            <a:r>
              <a:rPr lang="pt-PT" sz="1800">
                <a:solidFill>
                  <a:schemeClr val="tx2"/>
                </a:solidFill>
              </a:rPr>
              <a:t>O </a:t>
            </a:r>
            <a:r>
              <a:rPr lang="pt-PT" sz="1800" b="1">
                <a:solidFill>
                  <a:schemeClr val="tx2"/>
                </a:solidFill>
              </a:rPr>
              <a:t>VetGestLink</a:t>
            </a:r>
            <a:r>
              <a:rPr lang="pt-PT" sz="1800">
                <a:solidFill>
                  <a:schemeClr val="tx2"/>
                </a:solidFill>
              </a:rPr>
              <a:t> é uma aplicação Android desenvolvida para gestão veterinária, focada exclusivamente na </a:t>
            </a:r>
            <a:r>
              <a:rPr lang="pt-PT" sz="1800" b="1">
                <a:solidFill>
                  <a:schemeClr val="tx2"/>
                </a:solidFill>
              </a:rPr>
              <a:t>visão do cliente</a:t>
            </a:r>
            <a:r>
              <a:rPr lang="pt-PT" sz="1800">
                <a:solidFill>
                  <a:schemeClr val="tx2"/>
                </a:solidFill>
              </a:rPr>
              <a:t> (dono do animal). A aplicação permite aos clientes acompanhar a saúde dos seus animais, gerir consultas, efetuar pagamentos e manter notas personalizadas para cada um dos seus animais.</a:t>
            </a:r>
          </a:p>
          <a:p>
            <a:pPr marL="0" indent="0" algn="just">
              <a:buNone/>
            </a:pPr>
            <a:endParaRPr lang="pt-PT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850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155F4-244E-1E0F-B05D-B24154A8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030601-D40D-19F5-5280-BE5D59E1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Propósito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A5409FC-223E-5FAE-0F05-1A2005035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algn="just"/>
            <a:r>
              <a:rPr lang="pt-PT" sz="1800" dirty="0">
                <a:solidFill>
                  <a:schemeClr val="tx2"/>
                </a:solidFill>
              </a:rPr>
              <a:t>Esta aplicação foi desenvolvida no âmbito de um projeto académico para a disciplina de </a:t>
            </a:r>
            <a:r>
              <a:rPr lang="pt-PT" sz="1800" b="1" dirty="0">
                <a:solidFill>
                  <a:schemeClr val="tx2"/>
                </a:solidFill>
              </a:rPr>
              <a:t>ACESSO MÓVEL A SISTEMAS DE INFORMAÇÃO</a:t>
            </a:r>
            <a:r>
              <a:rPr lang="pt-PT" sz="1800" dirty="0">
                <a:solidFill>
                  <a:schemeClr val="tx2"/>
                </a:solidFill>
              </a:rPr>
              <a:t>, cumprindo todos os requisitos técnicos especificados, incluindo:</a:t>
            </a:r>
          </a:p>
          <a:p>
            <a:pPr lvl="1" algn="just"/>
            <a:r>
              <a:rPr lang="pt-PT" sz="1800" dirty="0">
                <a:solidFill>
                  <a:schemeClr val="tx2"/>
                </a:solidFill>
              </a:rPr>
              <a:t>Implementação de 6-10 </a:t>
            </a:r>
            <a:r>
              <a:rPr lang="pt-PT" sz="1800" dirty="0" err="1">
                <a:solidFill>
                  <a:schemeClr val="tx2"/>
                </a:solidFill>
              </a:rPr>
              <a:t>Activities</a:t>
            </a:r>
            <a:r>
              <a:rPr lang="pt-PT" sz="1800" dirty="0">
                <a:solidFill>
                  <a:schemeClr val="tx2"/>
                </a:solidFill>
              </a:rPr>
              <a:t>/</a:t>
            </a:r>
            <a:r>
              <a:rPr lang="pt-PT" sz="1800" dirty="0" err="1">
                <a:solidFill>
                  <a:schemeClr val="tx2"/>
                </a:solidFill>
              </a:rPr>
              <a:t>Fragments</a:t>
            </a:r>
            <a:endParaRPr lang="pt-PT" sz="1800" dirty="0">
              <a:solidFill>
                <a:schemeClr val="tx2"/>
              </a:solidFill>
            </a:endParaRPr>
          </a:p>
          <a:p>
            <a:pPr lvl="1" algn="just"/>
            <a:r>
              <a:rPr lang="pt-PT" sz="1800" dirty="0">
                <a:solidFill>
                  <a:schemeClr val="tx2"/>
                </a:solidFill>
              </a:rPr>
              <a:t>4 operações CRUD completas</a:t>
            </a:r>
          </a:p>
          <a:p>
            <a:pPr lvl="1" algn="just"/>
            <a:r>
              <a:rPr lang="pt-PT" sz="1800" dirty="0">
                <a:solidFill>
                  <a:schemeClr val="tx2"/>
                </a:solidFill>
              </a:rPr>
              <a:t>Uso de </a:t>
            </a:r>
            <a:r>
              <a:rPr lang="pt-PT" sz="1800" dirty="0" err="1">
                <a:solidFill>
                  <a:schemeClr val="tx2"/>
                </a:solidFill>
              </a:rPr>
              <a:t>SharedPreferences</a:t>
            </a:r>
            <a:r>
              <a:rPr lang="pt-PT" sz="1800" dirty="0">
                <a:solidFill>
                  <a:schemeClr val="tx2"/>
                </a:solidFill>
              </a:rPr>
              <a:t> e </a:t>
            </a:r>
            <a:r>
              <a:rPr lang="pt-PT" sz="1800" dirty="0" err="1">
                <a:solidFill>
                  <a:schemeClr val="tx2"/>
                </a:solidFill>
              </a:rPr>
              <a:t>SQLite</a:t>
            </a:r>
            <a:endParaRPr lang="pt-PT" sz="1800" dirty="0">
              <a:solidFill>
                <a:schemeClr val="tx2"/>
              </a:solidFill>
            </a:endParaRPr>
          </a:p>
          <a:p>
            <a:pPr lvl="1" algn="just"/>
            <a:r>
              <a:rPr lang="pt-PT" sz="1800" dirty="0">
                <a:solidFill>
                  <a:schemeClr val="tx2"/>
                </a:solidFill>
              </a:rPr>
              <a:t>Chamadas assíncronas a </a:t>
            </a:r>
            <a:r>
              <a:rPr lang="pt-PT" sz="1800" dirty="0" err="1">
                <a:solidFill>
                  <a:schemeClr val="tx2"/>
                </a:solidFill>
              </a:rPr>
              <a:t>webservice</a:t>
            </a:r>
            <a:r>
              <a:rPr lang="pt-PT" sz="1800" dirty="0">
                <a:solidFill>
                  <a:schemeClr val="tx2"/>
                </a:solidFill>
              </a:rPr>
              <a:t> REST</a:t>
            </a:r>
          </a:p>
          <a:p>
            <a:pPr lvl="1" algn="just"/>
            <a:r>
              <a:rPr lang="pt-PT" sz="1800" dirty="0">
                <a:solidFill>
                  <a:schemeClr val="tx2"/>
                </a:solidFill>
              </a:rPr>
              <a:t>Relacionamento </a:t>
            </a:r>
            <a:r>
              <a:rPr lang="pt-PT" sz="1800" dirty="0" err="1">
                <a:solidFill>
                  <a:schemeClr val="tx2"/>
                </a:solidFill>
              </a:rPr>
              <a:t>master</a:t>
            </a:r>
            <a:r>
              <a:rPr lang="pt-PT" sz="1800" dirty="0">
                <a:solidFill>
                  <a:schemeClr val="tx2"/>
                </a:solidFill>
              </a:rPr>
              <a:t>/</a:t>
            </a:r>
            <a:r>
              <a:rPr lang="pt-PT" sz="1800" dirty="0" err="1">
                <a:solidFill>
                  <a:schemeClr val="tx2"/>
                </a:solidFill>
              </a:rPr>
              <a:t>detail</a:t>
            </a:r>
            <a:endParaRPr lang="pt-PT" sz="18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endParaRPr lang="pt-PT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921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AA4F7-4D74-FCB9-6668-50D6605B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6F31FF2-CB16-1E05-DADB-017B61D90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536" y="2068751"/>
            <a:ext cx="5448730" cy="2387918"/>
          </a:xfrm>
        </p:spPr>
        <p:txBody>
          <a:bodyPr anchor="b">
            <a:normAutofit/>
          </a:bodyPr>
          <a:lstStyle/>
          <a:p>
            <a:r>
              <a:rPr lang="pt-PT" sz="5200" dirty="0">
                <a:solidFill>
                  <a:schemeClr val="tx2"/>
                </a:solidFill>
              </a:rPr>
              <a:t>Apresentação de planeamento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2900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8FE4B-81B6-D5CE-46E6-B25C0C55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5260E2-6461-4D5D-1A0F-B0395CBD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Subdivisão do grupo</a:t>
            </a:r>
          </a:p>
        </p:txBody>
      </p:sp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05AC3DB4-3E23-EE2A-2D15-0700F9E40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3126670"/>
              </p:ext>
            </p:extLst>
          </p:nvPr>
        </p:nvGraphicFramePr>
        <p:xfrm>
          <a:off x="6379341" y="1181595"/>
          <a:ext cx="4988314" cy="44870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9136">
                  <a:extLst>
                    <a:ext uri="{9D8B030D-6E8A-4147-A177-3AD203B41FA5}">
                      <a16:colId xmlns:a16="http://schemas.microsoft.com/office/drawing/2014/main" val="3510129403"/>
                    </a:ext>
                  </a:extLst>
                </a:gridCol>
                <a:gridCol w="1759344">
                  <a:extLst>
                    <a:ext uri="{9D8B030D-6E8A-4147-A177-3AD203B41FA5}">
                      <a16:colId xmlns:a16="http://schemas.microsoft.com/office/drawing/2014/main" val="2366434691"/>
                    </a:ext>
                  </a:extLst>
                </a:gridCol>
                <a:gridCol w="729546">
                  <a:extLst>
                    <a:ext uri="{9D8B030D-6E8A-4147-A177-3AD203B41FA5}">
                      <a16:colId xmlns:a16="http://schemas.microsoft.com/office/drawing/2014/main" val="3723011580"/>
                    </a:ext>
                  </a:extLst>
                </a:gridCol>
                <a:gridCol w="890288">
                  <a:extLst>
                    <a:ext uri="{9D8B030D-6E8A-4147-A177-3AD203B41FA5}">
                      <a16:colId xmlns:a16="http://schemas.microsoft.com/office/drawing/2014/main" val="2070695693"/>
                    </a:ext>
                  </a:extLst>
                </a:gridCol>
              </a:tblGrid>
              <a:tr h="371539">
                <a:tc>
                  <a:txBody>
                    <a:bodyPr/>
                    <a:lstStyle/>
                    <a:p>
                      <a:r>
                        <a:rPr lang="pt-PT" sz="1400" b="1" cap="none" spc="0">
                          <a:solidFill>
                            <a:schemeClr val="tx1"/>
                          </a:solidFill>
                        </a:rPr>
                        <a:t>Atividade</a:t>
                      </a:r>
                    </a:p>
                  </a:txBody>
                  <a:tcPr marL="54562" marR="77945" marT="15589" marB="116918" anchor="b"/>
                </a:tc>
                <a:tc>
                  <a:txBody>
                    <a:bodyPr/>
                    <a:lstStyle/>
                    <a:p>
                      <a:r>
                        <a:rPr lang="pt-PT" sz="1400" b="1" cap="none" spc="0">
                          <a:solidFill>
                            <a:schemeClr val="tx1"/>
                          </a:solidFill>
                        </a:rPr>
                        <a:t>Tarefa</a:t>
                      </a:r>
                    </a:p>
                  </a:txBody>
                  <a:tcPr marL="54562" marR="77945" marT="15589" marB="116918" anchor="b"/>
                </a:tc>
                <a:tc>
                  <a:txBody>
                    <a:bodyPr/>
                    <a:lstStyle/>
                    <a:p>
                      <a:r>
                        <a:rPr lang="pt-PT" sz="1400" b="1" cap="none" spc="0">
                          <a:solidFill>
                            <a:schemeClr val="tx1"/>
                          </a:solidFill>
                        </a:rPr>
                        <a:t>Aluno</a:t>
                      </a:r>
                    </a:p>
                  </a:txBody>
                  <a:tcPr marL="54562" marR="77945" marT="15589" marB="116918" anchor="b"/>
                </a:tc>
                <a:tc>
                  <a:txBody>
                    <a:bodyPr/>
                    <a:lstStyle/>
                    <a:p>
                      <a:r>
                        <a:rPr lang="pt-PT" sz="1400" b="1" cap="none" spc="0">
                          <a:solidFill>
                            <a:schemeClr val="tx1"/>
                          </a:solidFill>
                        </a:rPr>
                        <a:t>Duração</a:t>
                      </a:r>
                    </a:p>
                  </a:txBody>
                  <a:tcPr marL="54562" marR="77945" marT="15589" marB="116918" anchor="b"/>
                </a:tc>
                <a:extLst>
                  <a:ext uri="{0D108BD9-81ED-4DB2-BD59-A6C34878D82A}">
                    <a16:rowId xmlns:a16="http://schemas.microsoft.com/office/drawing/2014/main" val="2831708402"/>
                  </a:ext>
                </a:extLst>
              </a:tr>
              <a:tr h="631357"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Login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  <a:p>
                      <a:r>
                        <a:rPr lang="pt-PT" sz="1000" cap="none" spc="0" err="1">
                          <a:solidFill>
                            <a:schemeClr val="tx1"/>
                          </a:solidFill>
                        </a:rPr>
                        <a:t>Sign-up</a:t>
                      </a:r>
                      <a:endParaRPr lang="pt-PT" sz="10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Definições de servidor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Hugo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Wilson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2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3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3931877041"/>
                  </a:ext>
                </a:extLst>
              </a:tr>
              <a:tr h="475466"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Perfil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Editar Perfil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Wilson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Hugo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2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592755618"/>
                  </a:ext>
                </a:extLst>
              </a:tr>
              <a:tr h="319576"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Histórico de Pagamento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3072071629"/>
                  </a:ext>
                </a:extLst>
              </a:tr>
              <a:tr h="475466"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Pagamento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Pagar “Fatura”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Hugo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4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390927927"/>
                  </a:ext>
                </a:extLst>
              </a:tr>
              <a:tr h="787247">
                <a:tc>
                  <a:txBody>
                    <a:bodyPr/>
                    <a:lstStyle/>
                    <a:p>
                      <a:r>
                        <a:rPr lang="pt-PT" sz="1000" cap="none" spc="0" dirty="0">
                          <a:solidFill>
                            <a:schemeClr val="tx1"/>
                          </a:solidFill>
                        </a:rPr>
                        <a:t>Notas Dono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Adicionar nota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Eliminar nota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Editar nota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Wilson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Wilson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Hugo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2 dias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2 dias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2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2859319067"/>
                  </a:ext>
                </a:extLst>
              </a:tr>
              <a:tr h="475466"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Marcações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Ver Consulta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Wilson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2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3742317867"/>
                  </a:ext>
                </a:extLst>
              </a:tr>
              <a:tr h="475466"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Configurações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Alertas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Alterar Password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Wilson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3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130389851"/>
                  </a:ext>
                </a:extLst>
              </a:tr>
              <a:tr h="475466">
                <a:tc>
                  <a:txBody>
                    <a:bodyPr/>
                    <a:lstStyle/>
                    <a:p>
                      <a:r>
                        <a:rPr lang="pt-PT" sz="1000" cap="none" spc="0" dirty="0">
                          <a:solidFill>
                            <a:schemeClr val="tx1"/>
                          </a:solidFill>
                        </a:rPr>
                        <a:t>Esqueceu Senha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Interface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Enviar link de recuperação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Hugo</a:t>
                      </a:r>
                    </a:p>
                    <a:p>
                      <a:r>
                        <a:rPr lang="pt-PT" sz="1000" cap="none" spc="0">
                          <a:solidFill>
                            <a:schemeClr val="tx1"/>
                          </a:solidFill>
                        </a:rPr>
                        <a:t>Pedro</a:t>
                      </a:r>
                    </a:p>
                  </a:txBody>
                  <a:tcPr marL="54562" marR="77945" marT="15589" marB="116918"/>
                </a:tc>
                <a:tc>
                  <a:txBody>
                    <a:bodyPr/>
                    <a:lstStyle/>
                    <a:p>
                      <a:r>
                        <a:rPr lang="pt-PT" sz="1000" cap="none" spc="0" dirty="0">
                          <a:solidFill>
                            <a:schemeClr val="tx1"/>
                          </a:solidFill>
                        </a:rPr>
                        <a:t>1 dia</a:t>
                      </a:r>
                    </a:p>
                    <a:p>
                      <a:r>
                        <a:rPr lang="pt-PT" sz="1000" cap="none" spc="0" dirty="0">
                          <a:solidFill>
                            <a:schemeClr val="tx1"/>
                          </a:solidFill>
                        </a:rPr>
                        <a:t>3 dias</a:t>
                      </a:r>
                    </a:p>
                  </a:txBody>
                  <a:tcPr marL="54562" marR="77945" marT="15589" marB="116918"/>
                </a:tc>
                <a:extLst>
                  <a:ext uri="{0D108BD9-81ED-4DB2-BD59-A6C34878D82A}">
                    <a16:rowId xmlns:a16="http://schemas.microsoft.com/office/drawing/2014/main" val="3155773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20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EA141-4066-00B4-D35F-46AEBC47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247D04-4A1A-010C-154A-3C95153A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Justificação de escolhas</a:t>
            </a:r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717246F-9A8E-CFEB-7AA0-96D8DAC52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pPr algn="just"/>
            <a:r>
              <a:rPr lang="pt-PT" sz="1800" dirty="0">
                <a:solidFill>
                  <a:schemeClr val="tx2"/>
                </a:solidFill>
              </a:rPr>
              <a:t>Login - Acesso seguro à conta do cliente. </a:t>
            </a:r>
          </a:p>
          <a:p>
            <a:pPr algn="just"/>
            <a:r>
              <a:rPr lang="pt-PT" sz="1800" dirty="0">
                <a:solidFill>
                  <a:schemeClr val="tx2"/>
                </a:solidFill>
              </a:rPr>
              <a:t>Perfil - Consultar dados pessoais e informação do animal é </a:t>
            </a:r>
            <a:r>
              <a:rPr lang="pt-PT" sz="1800" dirty="0" err="1">
                <a:solidFill>
                  <a:schemeClr val="tx2"/>
                </a:solidFill>
              </a:rPr>
              <a:t>possivel</a:t>
            </a:r>
            <a:r>
              <a:rPr lang="pt-PT" sz="1800" dirty="0">
                <a:solidFill>
                  <a:schemeClr val="tx2"/>
                </a:solidFill>
              </a:rPr>
              <a:t> alteração dos dados pessoais do utilizador. </a:t>
            </a:r>
          </a:p>
          <a:p>
            <a:pPr algn="just"/>
            <a:r>
              <a:rPr lang="pt-PT" sz="1800" dirty="0">
                <a:solidFill>
                  <a:schemeClr val="tx2"/>
                </a:solidFill>
              </a:rPr>
              <a:t>Histórico de pagamentos - Consultar pagamentos anteriores de serviços. </a:t>
            </a:r>
          </a:p>
          <a:p>
            <a:pPr algn="just"/>
            <a:r>
              <a:rPr lang="pt-PT" sz="1800" dirty="0">
                <a:solidFill>
                  <a:schemeClr val="tx2"/>
                </a:solidFill>
              </a:rPr>
              <a:t>Pagamentos - Pagamento de serviços veterinários. </a:t>
            </a:r>
          </a:p>
          <a:p>
            <a:pPr algn="just"/>
            <a:r>
              <a:rPr lang="pt-PT" sz="1800" dirty="0">
                <a:solidFill>
                  <a:schemeClr val="tx2"/>
                </a:solidFill>
              </a:rPr>
              <a:t>Notas - Guardar informações uteis sobre o animal por exemplo comportamentos estranhos </a:t>
            </a:r>
          </a:p>
          <a:p>
            <a:pPr algn="just"/>
            <a:r>
              <a:rPr lang="pt-PT" sz="1800" dirty="0">
                <a:solidFill>
                  <a:schemeClr val="tx2"/>
                </a:solidFill>
              </a:rPr>
              <a:t>Marcações - Consultar marcações na clínica e o seu diagnostico caso seja uma marcação já realizada. </a:t>
            </a:r>
          </a:p>
        </p:txBody>
      </p:sp>
    </p:spTree>
    <p:extLst>
      <p:ext uri="{BB962C8B-B14F-4D97-AF65-F5344CB8AC3E}">
        <p14:creationId xmlns:p14="http://schemas.microsoft.com/office/powerpoint/2010/main" val="296953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AADC0-1BA3-4B66-59BF-05EA1694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764AD-AF48-B74A-45E0-92C26B9F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 err="1">
                <a:solidFill>
                  <a:schemeClr val="tx2"/>
                </a:solidFill>
              </a:rPr>
              <a:t>Justificação</a:t>
            </a:r>
            <a:r>
              <a:rPr lang="en-US" sz="3600" b="1" dirty="0">
                <a:solidFill>
                  <a:schemeClr val="tx2"/>
                </a:solidFill>
              </a:rPr>
              <a:t> de </a:t>
            </a:r>
            <a:r>
              <a:rPr lang="en-US" sz="3600" b="1" dirty="0" err="1">
                <a:solidFill>
                  <a:schemeClr val="tx2"/>
                </a:solidFill>
              </a:rPr>
              <a:t>escolhas</a:t>
            </a:r>
            <a:r>
              <a:rPr lang="en-US" sz="3600" b="1" dirty="0">
                <a:solidFill>
                  <a:schemeClr val="tx2"/>
                </a:solidFill>
              </a:rPr>
              <a:t> (cont.)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DF035F0-1F2F-6506-60BA-F559B81FB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algn="just"/>
            <a:r>
              <a:rPr lang="pt-PT" sz="1400" dirty="0">
                <a:solidFill>
                  <a:schemeClr val="tx2"/>
                </a:solidFill>
              </a:rPr>
              <a:t>A aplicação, embora de pequena dimensão, funciona como um complemento de suporte ao cliente, uma vez que grande parte das operações principais decorre presencialmente na clínica ou através da aplicação web. </a:t>
            </a:r>
          </a:p>
          <a:p>
            <a:pPr algn="just"/>
            <a:r>
              <a:rPr lang="pt-PT" sz="1400" dirty="0">
                <a:solidFill>
                  <a:schemeClr val="tx2"/>
                </a:solidFill>
              </a:rPr>
              <a:t>Ainda assim, a aplicação móvel oferece uma maior mobilidade e comodidade ao utilizador, permitindo: </a:t>
            </a:r>
          </a:p>
          <a:p>
            <a:pPr lvl="1" algn="just"/>
            <a:r>
              <a:rPr lang="pt-PT" sz="1400" dirty="0">
                <a:solidFill>
                  <a:schemeClr val="tx2"/>
                </a:solidFill>
              </a:rPr>
              <a:t>Adicionar notas sobre o seu animal, sempre que ocorra algum comportamento irregular ou informação relevante; </a:t>
            </a:r>
          </a:p>
          <a:p>
            <a:pPr lvl="1" algn="just"/>
            <a:r>
              <a:rPr lang="pt-PT" sz="1400" dirty="0">
                <a:solidFill>
                  <a:schemeClr val="tx2"/>
                </a:solidFill>
              </a:rPr>
              <a:t>Consultar a agenda, servindo como lembrete das marcações e respetivos diagnósticos caso a consulta já tenha sido realizada; </a:t>
            </a:r>
          </a:p>
          <a:p>
            <a:pPr lvl="1" algn="just"/>
            <a:r>
              <a:rPr lang="pt-PT" sz="1400" dirty="0">
                <a:solidFill>
                  <a:schemeClr val="tx2"/>
                </a:solidFill>
              </a:rPr>
              <a:t>Efetuar o pagamento de marcações de forma simples e rápida. </a:t>
            </a:r>
          </a:p>
          <a:p>
            <a:pPr algn="just"/>
            <a:r>
              <a:rPr lang="pt-PT" sz="1400" dirty="0">
                <a:solidFill>
                  <a:schemeClr val="tx2"/>
                </a:solidFill>
              </a:rPr>
              <a:t>Assim, a aplicação reforça a ligação entre o cliente e a clínica, facilitando o acompanhamento do animal e promovendo uma experiência mais prática e acessível.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50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E9DFD-FF01-E50F-A477-E09A7228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F760BE0-5806-4047-D7C6-6F2B240E8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426" y="2235041"/>
            <a:ext cx="5186842" cy="2387918"/>
          </a:xfrm>
        </p:spPr>
        <p:txBody>
          <a:bodyPr anchor="b">
            <a:normAutofit/>
          </a:bodyPr>
          <a:lstStyle/>
          <a:p>
            <a:r>
              <a:rPr lang="pt-PT" sz="5200" dirty="0">
                <a:solidFill>
                  <a:schemeClr val="tx2"/>
                </a:solidFill>
              </a:rPr>
              <a:t>Análise e definição de Requisitos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23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EF291-ACDF-FC5A-4728-3201C74E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64C164-E004-7B2B-2DC1-60AF7357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D366BE8-94AF-48D7-FC6A-9A979AD96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800" b="1">
                <a:solidFill>
                  <a:schemeClr val="tx2"/>
                </a:solidFill>
              </a:rPr>
              <a:t>RF01 - Autenticação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ID: RF01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Prioridade: </a:t>
            </a:r>
            <a:r>
              <a:rPr lang="pt-PT" sz="1800" b="1">
                <a:solidFill>
                  <a:schemeClr val="tx2"/>
                </a:solidFill>
              </a:rPr>
              <a:t>Alta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Descrição: O sistema deve permitir autenticação de clientes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Login com username e password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Recuperação de senha via email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Logout seguro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Persistência de sessão (auto-login)</a:t>
            </a:r>
          </a:p>
          <a:p>
            <a:pPr marL="0" indent="0">
              <a:buNone/>
            </a:pPr>
            <a:endParaRPr lang="pt-PT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6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C999A-5603-0FF0-7337-351C4200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6B6545-5527-F2BB-7F6B-FCE0D75E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F1E5917-A6FE-FE35-BBCD-9AD3CD6AE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300" b="1">
                <a:solidFill>
                  <a:schemeClr val="tx2"/>
                </a:solidFill>
              </a:rPr>
              <a:t>RF02 - Gestão de Consultas/Marcações</a:t>
            </a:r>
          </a:p>
          <a:p>
            <a:pPr lvl="1"/>
            <a:r>
              <a:rPr lang="pt-PT" sz="1300">
                <a:solidFill>
                  <a:schemeClr val="tx2"/>
                </a:solidFill>
              </a:rPr>
              <a:t>ID: RF02</a:t>
            </a:r>
          </a:p>
          <a:p>
            <a:pPr lvl="1"/>
            <a:r>
              <a:rPr lang="pt-PT" sz="1300">
                <a:solidFill>
                  <a:schemeClr val="tx2"/>
                </a:solidFill>
              </a:rPr>
              <a:t>Prioridade: </a:t>
            </a:r>
            <a:r>
              <a:rPr lang="pt-PT" sz="1300" b="1">
                <a:solidFill>
                  <a:schemeClr val="tx2"/>
                </a:solidFill>
              </a:rPr>
              <a:t>Alta</a:t>
            </a:r>
          </a:p>
          <a:p>
            <a:pPr lvl="1"/>
            <a:r>
              <a:rPr lang="pt-PT" sz="1300">
                <a:solidFill>
                  <a:schemeClr val="tx2"/>
                </a:solidFill>
              </a:rPr>
              <a:t>Descrição: O sistema deve permitir visualização de consultas</a:t>
            </a:r>
          </a:p>
          <a:p>
            <a:pPr lvl="1"/>
            <a:r>
              <a:rPr lang="pt-PT" sz="13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✅ Listar todas as consultas do cliente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✅ Filtrar por status (Agendada/Concluída)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✅ Filtrar por animal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✅ Pesquisar consultas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✅ Ver detalhes completos (veterinário, clínica, observações)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❌ Criar novas consultas (não permitido)</a:t>
            </a:r>
          </a:p>
          <a:p>
            <a:pPr lvl="2"/>
            <a:r>
              <a:rPr lang="pt-PT" sz="1300">
                <a:solidFill>
                  <a:schemeClr val="tx2"/>
                </a:solidFill>
              </a:rPr>
              <a:t>❌ Cancelar consultas (apenas por telefone)</a:t>
            </a:r>
          </a:p>
          <a:p>
            <a:pPr marL="0" indent="0">
              <a:buNone/>
            </a:pPr>
            <a:endParaRPr lang="pt-PT" sz="13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20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36184-F522-C35D-0B2B-7F96FB2E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991F42-C35F-4EF1-B1D2-9DC5D5BB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86A5821-A4FD-C6EB-F7C2-FB59AA48B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400" b="1">
                <a:solidFill>
                  <a:schemeClr val="tx2"/>
                </a:solidFill>
              </a:rPr>
              <a:t>RF03 - Gestão de Pagamentos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ID: RF03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Prioridade: </a:t>
            </a:r>
            <a:r>
              <a:rPr lang="pt-PT" sz="1400" b="1">
                <a:solidFill>
                  <a:schemeClr val="tx2"/>
                </a:solidFill>
              </a:rPr>
              <a:t>Alta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Descrição: O sistema deve permitir gestão de faturas e pagamentos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Listar faturas (pendentes e pagas)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Filtrar faturas por status e ano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Ver detalhes da fatura (itens, valores)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Ver resumo financeiro (total pendente, total pago)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Efetuar pagamentos (MBWay, Multibanco, Cartão)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Ver histórico de pagamentos realizados</a:t>
            </a:r>
          </a:p>
          <a:p>
            <a:pPr marL="0" indent="0">
              <a:buNone/>
            </a:pPr>
            <a:endParaRPr lang="pt-PT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527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519C1-E664-34CE-1679-AF52791F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10D59F-5BAD-D0B4-6BE8-D2692B8D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518D04E-2A76-0F69-0DFA-E77A277D1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500" b="1">
                <a:solidFill>
                  <a:schemeClr val="tx2"/>
                </a:solidFill>
              </a:rPr>
              <a:t>RF04 - Gestão de Animais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ID: RF04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Prioridade: </a:t>
            </a:r>
            <a:r>
              <a:rPr lang="pt-PT" sz="1500" b="1">
                <a:solidFill>
                  <a:schemeClr val="tx2"/>
                </a:solidFill>
              </a:rPr>
              <a:t>Média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Descrição: O sistema deve permitir visualização de animais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Listar todos os animais do cliente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Ver detalhes do animal (espécie, raça, idade, peso)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Ver foto do animal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❌ Adicionar novos animais (não permitido)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❌ Remover animais (não permitido)</a:t>
            </a:r>
          </a:p>
          <a:p>
            <a:pPr marL="0" indent="0">
              <a:buNone/>
            </a:pPr>
            <a:endParaRPr lang="pt-PT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22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CB00F-C937-301D-8B3C-8A2D2F562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DA7F67-5341-40FC-5449-41E8C031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4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06AE0CF-F65B-3AEF-B686-13FCF3D09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500" b="1">
                <a:solidFill>
                  <a:schemeClr val="tx2"/>
                </a:solidFill>
              </a:rPr>
              <a:t>RF05 - Gestão de Notas (CRUD Completo)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ID: RF05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Prioridade: </a:t>
            </a:r>
            <a:r>
              <a:rPr lang="pt-PT" sz="1500" b="1">
                <a:solidFill>
                  <a:schemeClr val="tx2"/>
                </a:solidFill>
              </a:rPr>
              <a:t>Alta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Descrição: O sistema deve permitir gestão completa de notas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Criar notas para cada animal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Listar notas de um animal específico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Editar notas existentes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Deletar notas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Ordenar por data (mais recentes primeiro)</a:t>
            </a:r>
          </a:p>
        </p:txBody>
      </p:sp>
    </p:spTree>
    <p:extLst>
      <p:ext uri="{BB962C8B-B14F-4D97-AF65-F5344CB8AC3E}">
        <p14:creationId xmlns:p14="http://schemas.microsoft.com/office/powerpoint/2010/main" val="19832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5F21D-BF8A-50E3-F0D1-30444B22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A692F7-C0E6-A904-ADBD-5A5360BB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B9421FF-0CC6-DE52-2C1A-B510F5A8E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400" b="1">
                <a:solidFill>
                  <a:schemeClr val="tx2"/>
                </a:solidFill>
              </a:rPr>
              <a:t>RF06 - Gestão de Perfil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ID: RF06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Prioridade: </a:t>
            </a:r>
            <a:r>
              <a:rPr lang="pt-PT" sz="1400" b="1">
                <a:solidFill>
                  <a:schemeClr val="tx2"/>
                </a:solidFill>
              </a:rPr>
              <a:t>Média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Descrição: O sistema deve permitir gestão do perfil do cliente</a:t>
            </a:r>
          </a:p>
          <a:p>
            <a:pPr lvl="1"/>
            <a:r>
              <a:rPr lang="pt-PT" sz="14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Ver dados pessoais completos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Editar nome completo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Editar telemóvel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✅ Ver estatísticas (consultas, faturas)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❌ Alterar email (não permitido)</a:t>
            </a:r>
          </a:p>
          <a:p>
            <a:pPr lvl="2"/>
            <a:r>
              <a:rPr lang="pt-PT" sz="1400">
                <a:solidFill>
                  <a:schemeClr val="tx2"/>
                </a:solidFill>
              </a:rPr>
              <a:t>❌ Alterar NIF (não permitido)</a:t>
            </a:r>
          </a:p>
        </p:txBody>
      </p:sp>
    </p:spTree>
    <p:extLst>
      <p:ext uri="{BB962C8B-B14F-4D97-AF65-F5344CB8AC3E}">
        <p14:creationId xmlns:p14="http://schemas.microsoft.com/office/powerpoint/2010/main" val="311540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EDF77-61B0-0700-6045-4430F550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FE3A6E-373C-1F00-74D6-A5949BED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1E18B8D-8F08-7867-B073-EACC8EADD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800" b="1">
                <a:solidFill>
                  <a:schemeClr val="tx2"/>
                </a:solidFill>
              </a:rPr>
              <a:t>RF07 - Gestão de Morada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ID: RF07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Prioridade: </a:t>
            </a:r>
            <a:r>
              <a:rPr lang="pt-PT" sz="1800" b="1">
                <a:solidFill>
                  <a:schemeClr val="tx2"/>
                </a:solidFill>
              </a:rPr>
              <a:t>Média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Descrição: O sistema deve permitir edição de morada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Ver morada atual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Editar rua, número, andar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Editar código postal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Editar localidade e cidade</a:t>
            </a:r>
          </a:p>
        </p:txBody>
      </p:sp>
    </p:spTree>
    <p:extLst>
      <p:ext uri="{BB962C8B-B14F-4D97-AF65-F5344CB8AC3E}">
        <p14:creationId xmlns:p14="http://schemas.microsoft.com/office/powerpoint/2010/main" val="3281877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337EC-8EF3-DC0A-A8EE-3367B74A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E1DE10-2D31-3743-8E6F-DC5553B4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Requisitos Funcionais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8DB7E3-A0F3-9200-A0C7-FAE799978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pt-PT" sz="1800" b="1">
                <a:solidFill>
                  <a:schemeClr val="tx2"/>
                </a:solidFill>
              </a:rPr>
              <a:t>RF08 - Configurações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ID: RF08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Prioridade: </a:t>
            </a:r>
            <a:r>
              <a:rPr lang="pt-PT" sz="1800" b="1">
                <a:solidFill>
                  <a:schemeClr val="tx2"/>
                </a:solidFill>
              </a:rPr>
              <a:t>Baixa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Descrição: O sistema deve permitir configurações da aplicação</a:t>
            </a:r>
          </a:p>
          <a:p>
            <a:pPr lvl="1"/>
            <a:r>
              <a:rPr lang="pt-PT" sz="18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Configurar URL do servidor API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Testar conectividade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Ver versão da aplicação</a:t>
            </a:r>
          </a:p>
          <a:p>
            <a:pPr lvl="2"/>
            <a:r>
              <a:rPr lang="pt-PT" sz="1800">
                <a:solidFill>
                  <a:schemeClr val="tx2"/>
                </a:solidFill>
              </a:rPr>
              <a:t>✅ Limpar cache local</a:t>
            </a:r>
          </a:p>
        </p:txBody>
      </p:sp>
    </p:spTree>
    <p:extLst>
      <p:ext uri="{BB962C8B-B14F-4D97-AF65-F5344CB8AC3E}">
        <p14:creationId xmlns:p14="http://schemas.microsoft.com/office/powerpoint/2010/main" val="229295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22C32-E9B7-0DA1-527E-CEC58800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329601-972D-479D-11C5-F8EF5C9E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Requisitos Não-Funcionais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6577D95-F883-981C-811D-EB70CAAEA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pt-PT" sz="1700" b="1">
                <a:solidFill>
                  <a:schemeClr val="tx2"/>
                </a:solidFill>
              </a:rPr>
              <a:t>RNF01 - Performance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ID: RNF01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Descrição: A aplicação deve ser responsiva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Chamadas à API não bloqueiam a UI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Indicadores de loading durante operações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Cache local para visualização offline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Tempo de resposta &lt; 3 segundos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3928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CEC7E-9571-8096-CD35-8258C3A7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91F39F-AF9F-275D-DF71-51E7D258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Requisitos Não-Funcionais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C40D26-61AC-1455-B1BA-57972799F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pt-PT" sz="1500" b="1">
                <a:solidFill>
                  <a:schemeClr val="tx2"/>
                </a:solidFill>
              </a:rPr>
              <a:t>RNF02 - Usabilidade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ID: RNF02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Descrição: A aplicação deve ser intuitiva</a:t>
            </a:r>
          </a:p>
          <a:p>
            <a:pPr lvl="1"/>
            <a:r>
              <a:rPr lang="pt-PT" sz="15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Interface baseada em Material Design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Cores consistentes (verde #15803d)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Ícones claros e descritivos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Feedback visual para ações</a:t>
            </a:r>
          </a:p>
          <a:p>
            <a:pPr lvl="2"/>
            <a:r>
              <a:rPr lang="pt-PT" sz="1500">
                <a:solidFill>
                  <a:schemeClr val="tx2"/>
                </a:solidFill>
              </a:rPr>
              <a:t>✅ Mensagens de erro claras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747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1B28C-D82F-D285-3DC7-21625EE6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AD1E4E-AD5B-638B-F8F3-EAD5F4A90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Requisitos Não-Funcionais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24B0B63-3C51-E2C9-68A8-782EA5D4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pt-PT" sz="1700" b="1">
                <a:solidFill>
                  <a:schemeClr val="tx2"/>
                </a:solidFill>
              </a:rPr>
              <a:t>RNF03 - Segurança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ID: RNF03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Descrição: A aplicação deve ser segura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Comunicação HTTPS obrigatória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Token de autenticação em todas as requisições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Armazenamento seguro de credenciais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Timeout de sessão após inatividade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019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AD6F-9786-DC69-AC3C-EB2032F9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0747FF-C816-8F25-B7C0-0222B136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Requisitos Não-Funcionais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93142CE-407B-7326-9E32-A538AE780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pt-PT" sz="1700" b="1">
                <a:solidFill>
                  <a:schemeClr val="tx2"/>
                </a:solidFill>
              </a:rPr>
              <a:t>RNF04 - Compatibilidade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ID: RNF04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Descrição: A aplicação deve ser compatível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Android API 24+ (Nougat 7.0+)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Suporte a diferentes densidades de tela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Rotação de tela mantém estado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Modo retrato e paisagem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4562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076E7-7873-3DDD-2EBD-E0E1BC69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38858A-6F59-856A-2B23-004E7413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Requisitos Não-Funcionais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9840277-1C0B-2B88-2353-F19D53874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pt-PT" sz="1700" b="1">
                <a:solidFill>
                  <a:schemeClr val="tx2"/>
                </a:solidFill>
              </a:rPr>
              <a:t>RNF05 - Manutenibilidade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ID: RNF05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Descrição: O código deve ser manutenível</a:t>
            </a:r>
          </a:p>
          <a:p>
            <a:pPr lvl="1"/>
            <a:r>
              <a:rPr lang="pt-PT" sz="1700">
                <a:solidFill>
                  <a:schemeClr val="tx2"/>
                </a:solidFill>
              </a:rPr>
              <a:t>Critérios: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Arquitetura MVC clara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Código documentado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Padrão Singleton para repositórios</a:t>
            </a:r>
          </a:p>
          <a:p>
            <a:pPr lvl="2"/>
            <a:r>
              <a:rPr lang="pt-PT" sz="1700">
                <a:solidFill>
                  <a:schemeClr val="tx2"/>
                </a:solidFill>
              </a:rPr>
              <a:t>✅ Separação de responsabilidades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8839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7A208-02E1-07D9-2B8D-D4D2526C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D384A01-601E-3E54-0051-9FC708B3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2271232"/>
            <a:ext cx="6105194" cy="2031055"/>
          </a:xfrm>
        </p:spPr>
        <p:txBody>
          <a:bodyPr>
            <a:normAutofit/>
          </a:bodyPr>
          <a:lstStyle/>
          <a:p>
            <a:r>
              <a:rPr lang="pt-PT" sz="5200" dirty="0" err="1">
                <a:solidFill>
                  <a:schemeClr val="tx2"/>
                </a:solidFill>
              </a:rPr>
              <a:t>Mockups</a:t>
            </a:r>
            <a:r>
              <a:rPr lang="pt-PT" sz="5200" dirty="0">
                <a:solidFill>
                  <a:schemeClr val="tx2"/>
                </a:solidFill>
              </a:rPr>
              <a:t> da aplicação</a:t>
            </a:r>
          </a:p>
        </p:txBody>
      </p:sp>
    </p:spTree>
    <p:extLst>
      <p:ext uri="{BB962C8B-B14F-4D97-AF65-F5344CB8AC3E}">
        <p14:creationId xmlns:p14="http://schemas.microsoft.com/office/powerpoint/2010/main" val="1360548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5BDD6-AC24-E8FA-B9F7-0C8E32FB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AE473BD-9A2A-420F-B844-12BCFA3D4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1E8FE15-9008-ABF1-247F-5E8EDCE3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11098932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/>
              <a:t>   Login                                                </a:t>
            </a:r>
            <a:r>
              <a:rPr lang="en-US" sz="2200" b="1" dirty="0" err="1"/>
              <a:t>Esqueceu</a:t>
            </a:r>
            <a:r>
              <a:rPr lang="en-US" sz="2200" b="1" dirty="0"/>
              <a:t> a </a:t>
            </a:r>
            <a:r>
              <a:rPr lang="en-US" sz="2200" b="1" dirty="0" err="1"/>
              <a:t>senha</a:t>
            </a:r>
            <a:r>
              <a:rPr lang="en-US" sz="2200" b="1" dirty="0"/>
              <a:t>                                    </a:t>
            </a:r>
            <a:r>
              <a:rPr lang="en-US" sz="2200" b="1" dirty="0" err="1"/>
              <a:t>Marcações</a:t>
            </a:r>
            <a:endParaRPr lang="en-US" sz="2200" b="1" dirty="0"/>
          </a:p>
        </p:txBody>
      </p:sp>
      <p:pic>
        <p:nvPicPr>
          <p:cNvPr id="7" name="Imagem 6" descr="Uma imagem com texto, captura de ecrã, logótipo, Tipo de letra&#10;&#10;Os conteúdos gerados por IA podem estar incorretos.">
            <a:extLst>
              <a:ext uri="{FF2B5EF4-FFF2-40B4-BE49-F238E27FC236}">
                <a16:creationId xmlns:a16="http://schemas.microsoft.com/office/drawing/2014/main" id="{A08B7C9E-6D87-4ECD-C319-24FD48F97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838" y="1557339"/>
            <a:ext cx="219779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Imagem 2" descr="Uma imagem com texto, captura de ecrã, logótipo, Tipo de letra&#10;&#10;Os conteúdos gerados por IA podem estar incorretos.">
            <a:extLst>
              <a:ext uri="{FF2B5EF4-FFF2-40B4-BE49-F238E27FC236}">
                <a16:creationId xmlns:a16="http://schemas.microsoft.com/office/drawing/2014/main" id="{1E6C29D8-6C80-B0E4-B085-92819B342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240" y="1557339"/>
            <a:ext cx="219779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Imagem 3" descr="Uma imagem com texto, captura de ecrã, software, Página web&#10;&#10;Os conteúdos gerados por IA podem estar incorretos.">
            <a:extLst>
              <a:ext uri="{FF2B5EF4-FFF2-40B4-BE49-F238E27FC236}">
                <a16:creationId xmlns:a16="http://schemas.microsoft.com/office/drawing/2014/main" id="{D0EB524D-2A8E-0621-272B-7298140F5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562" y="1557339"/>
            <a:ext cx="211463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2776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D43C9-FF29-FD1C-68D6-E716C45A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A156F7-690F-5FCA-8B94-3263B163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9D9CE9-2F12-1F4A-8B56-7C5EBF211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6C5CA1-DA39-7E96-7350-314CE6135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B3B1AB5-D81C-A499-F516-D46F249CA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4D63D42-B30D-31BA-7BA5-57E33C7C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11098932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 err="1"/>
              <a:t>Historico</a:t>
            </a:r>
            <a:r>
              <a:rPr lang="en-US" sz="2200" b="1" dirty="0"/>
              <a:t> de </a:t>
            </a:r>
            <a:r>
              <a:rPr lang="en-US" sz="2200" b="1" dirty="0" err="1"/>
              <a:t>Pagamentos</a:t>
            </a:r>
            <a:r>
              <a:rPr lang="en-US" sz="2200" b="1" dirty="0"/>
              <a:t>                                  </a:t>
            </a:r>
            <a:r>
              <a:rPr lang="en-US" sz="2200" b="1" dirty="0" err="1"/>
              <a:t>Pagamentos</a:t>
            </a:r>
            <a:endParaRPr lang="en-US" sz="2200" b="1" dirty="0"/>
          </a:p>
        </p:txBody>
      </p:sp>
      <p:pic>
        <p:nvPicPr>
          <p:cNvPr id="8" name="Imagem 7" descr="Uma imagem com texto, captura de ecrã, software, Página web&#10;&#10;Os conteúdos gerados por IA podem estar incorretos.">
            <a:extLst>
              <a:ext uri="{FF2B5EF4-FFF2-40B4-BE49-F238E27FC236}">
                <a16:creationId xmlns:a16="http://schemas.microsoft.com/office/drawing/2014/main" id="{79A2DE30-4738-3C46-D6D6-F1B27F0AB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02" y="1541584"/>
            <a:ext cx="2167518" cy="4879695"/>
          </a:xfrm>
          <a:prstGeom prst="rect">
            <a:avLst/>
          </a:prstGeom>
        </p:spPr>
      </p:pic>
      <p:pic>
        <p:nvPicPr>
          <p:cNvPr id="9" name="Imagem 8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1C227138-BBF5-74AC-F045-DB525DCB8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321" y="1541584"/>
            <a:ext cx="2170894" cy="487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78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37CF2-FB21-0A0B-2152-FFD283D4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CCED8A9-2FE6-8416-A516-7981BC0C6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CCA792-C0DF-098D-0466-C0F3811E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3E404C-4083-DDF6-F77A-D279F3684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3956E2-ACB1-2BEF-BCAE-BB4ADC863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DE51A3B-901C-0550-1ED1-EAEDF09AB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11098932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 err="1"/>
              <a:t>Notas</a:t>
            </a:r>
            <a:r>
              <a:rPr lang="en-US" sz="2200" b="1" dirty="0"/>
              <a:t> Dono                                                                 </a:t>
            </a:r>
            <a:r>
              <a:rPr lang="en-US" sz="2200" b="1" dirty="0" err="1"/>
              <a:t>Perfil</a:t>
            </a:r>
            <a:endParaRPr lang="en-US" sz="2200" b="1" dirty="0"/>
          </a:p>
        </p:txBody>
      </p:sp>
      <p:pic>
        <p:nvPicPr>
          <p:cNvPr id="6" name="Imagem 5" descr="Uma imagem com texto, eletrónica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5CED466D-007A-50E5-D98D-F779E6A98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810" y="1556370"/>
            <a:ext cx="2311214" cy="4843597"/>
          </a:xfrm>
          <a:prstGeom prst="rect">
            <a:avLst/>
          </a:prstGeom>
        </p:spPr>
      </p:pic>
      <p:pic>
        <p:nvPicPr>
          <p:cNvPr id="9" name="Imagem 8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27ABA7A6-98FA-1795-6E6D-E0BDBA456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17"/>
          <a:stretch>
            <a:fillRect/>
          </a:stretch>
        </p:blipFill>
        <p:spPr>
          <a:xfrm>
            <a:off x="6096000" y="1331602"/>
            <a:ext cx="2324510" cy="4813092"/>
          </a:xfrm>
          <a:prstGeom prst="rect">
            <a:avLst/>
          </a:prstGeom>
        </p:spPr>
      </p:pic>
      <p:pic>
        <p:nvPicPr>
          <p:cNvPr id="10" name="Imagem 9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4DAD021C-EB5A-3E02-538B-8ECAEEDF6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383"/>
          <a:stretch>
            <a:fillRect/>
          </a:stretch>
        </p:blipFill>
        <p:spPr>
          <a:xfrm>
            <a:off x="8736364" y="1331602"/>
            <a:ext cx="2117538" cy="506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01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C8B44-0FBD-7CE1-A511-9AD8FC92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C31EAD4-8089-6E70-EF31-BBAFE3470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D8D1A3-689B-2404-3ADF-95CBB902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77562-8E72-6874-4574-A860CA220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284E06-222F-E071-7969-47D339D35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2B23FA0-F145-B85E-F203-B2C0D9B0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923" y="458033"/>
            <a:ext cx="10391286" cy="726224"/>
          </a:xfrm>
        </p:spPr>
        <p:txBody>
          <a:bodyPr vert="horz" wrap="square" lIns="91440" tIns="45720" rIns="91440" bIns="45720" rtlCol="0" anchor="ctr">
            <a:normAutofit fontScale="90000"/>
          </a:bodyPr>
          <a:lstStyle/>
          <a:p>
            <a:r>
              <a:rPr lang="en-US" sz="2400" b="1" dirty="0" err="1"/>
              <a:t>Editar</a:t>
            </a:r>
            <a:r>
              <a:rPr lang="en-US" sz="2400" b="1" dirty="0"/>
              <a:t> </a:t>
            </a:r>
            <a:r>
              <a:rPr lang="en-US" sz="2400" b="1" dirty="0" err="1"/>
              <a:t>Perfil</a:t>
            </a:r>
            <a:r>
              <a:rPr lang="en-US" sz="2400" b="1" dirty="0"/>
              <a:t> e </a:t>
            </a:r>
            <a:br>
              <a:rPr lang="en-US" sz="2400" b="1" dirty="0"/>
            </a:br>
            <a:r>
              <a:rPr lang="en-US" sz="2400" b="1" dirty="0" err="1"/>
              <a:t>Configurações</a:t>
            </a:r>
            <a:endParaRPr lang="en-US" sz="2200" b="1" dirty="0"/>
          </a:p>
        </p:txBody>
      </p:sp>
      <p:pic>
        <p:nvPicPr>
          <p:cNvPr id="5" name="Imagem 4" descr="Uma imagem com texto, número, captura de ecrã&#10;&#10;Os conteúdos gerados por IA podem estar incorretos.">
            <a:extLst>
              <a:ext uri="{FF2B5EF4-FFF2-40B4-BE49-F238E27FC236}">
                <a16:creationId xmlns:a16="http://schemas.microsoft.com/office/drawing/2014/main" id="{A119EECF-164C-5ED7-7B94-132CD80B8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67" b="20444"/>
          <a:stretch>
            <a:fillRect/>
          </a:stretch>
        </p:blipFill>
        <p:spPr>
          <a:xfrm>
            <a:off x="7911175" y="555379"/>
            <a:ext cx="3011802" cy="2399632"/>
          </a:xfrm>
          <a:prstGeom prst="rect">
            <a:avLst/>
          </a:prstGeom>
        </p:spPr>
      </p:pic>
      <p:pic>
        <p:nvPicPr>
          <p:cNvPr id="6" name="Imagem 5" descr="Uma imagem com texto, número, captura de ecrã&#10;&#10;Os conteúdos gerados por IA podem estar incorretos.">
            <a:extLst>
              <a:ext uri="{FF2B5EF4-FFF2-40B4-BE49-F238E27FC236}">
                <a16:creationId xmlns:a16="http://schemas.microsoft.com/office/drawing/2014/main" id="{56C18C53-503E-6D27-4B0D-AC43CF63A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50" b="37333"/>
          <a:stretch>
            <a:fillRect/>
          </a:stretch>
        </p:blipFill>
        <p:spPr>
          <a:xfrm>
            <a:off x="4433067" y="3963550"/>
            <a:ext cx="3011802" cy="1977331"/>
          </a:xfrm>
          <a:prstGeom prst="rect">
            <a:avLst/>
          </a:prstGeom>
        </p:spPr>
      </p:pic>
      <p:pic>
        <p:nvPicPr>
          <p:cNvPr id="8" name="Imagem 7" descr="Uma imagem com texto, número, captura de ecrã&#10;&#10;Os conteúdos gerados por IA podem estar incorretos.">
            <a:extLst>
              <a:ext uri="{FF2B5EF4-FFF2-40B4-BE49-F238E27FC236}">
                <a16:creationId xmlns:a16="http://schemas.microsoft.com/office/drawing/2014/main" id="{7BED3D95-1344-D97F-DDC3-E397D4F33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1" b="51250"/>
          <a:stretch>
            <a:fillRect/>
          </a:stretch>
        </p:blipFill>
        <p:spPr>
          <a:xfrm>
            <a:off x="4433067" y="555379"/>
            <a:ext cx="3011802" cy="3097371"/>
          </a:xfrm>
          <a:prstGeom prst="rect">
            <a:avLst/>
          </a:prstGeom>
        </p:spPr>
      </p:pic>
      <p:pic>
        <p:nvPicPr>
          <p:cNvPr id="9" name="Imagem 8" descr="Uma imagem com texto, número, captura de ecrã&#10;&#10;Os conteúdos gerados por IA podem estar incorretos.">
            <a:extLst>
              <a:ext uri="{FF2B5EF4-FFF2-40B4-BE49-F238E27FC236}">
                <a16:creationId xmlns:a16="http://schemas.microsoft.com/office/drawing/2014/main" id="{7CCF3A6D-9984-C68C-30CB-8D1CF57BC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50"/>
          <a:stretch>
            <a:fillRect/>
          </a:stretch>
        </p:blipFill>
        <p:spPr>
          <a:xfrm>
            <a:off x="947510" y="1584096"/>
            <a:ext cx="3011802" cy="3829200"/>
          </a:xfrm>
          <a:prstGeom prst="rect">
            <a:avLst/>
          </a:prstGeom>
        </p:spPr>
      </p:pic>
      <p:pic>
        <p:nvPicPr>
          <p:cNvPr id="10" name="Imagem 9" descr="Uma imagem com texto, número, captura de ecrã&#10;&#10;Os conteúdos gerados por IA podem estar incorretos.">
            <a:extLst>
              <a:ext uri="{FF2B5EF4-FFF2-40B4-BE49-F238E27FC236}">
                <a16:creationId xmlns:a16="http://schemas.microsoft.com/office/drawing/2014/main" id="{0BE1F334-C93E-98FD-DE70-A2B980698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55"/>
          <a:stretch>
            <a:fillRect/>
          </a:stretch>
        </p:blipFill>
        <p:spPr>
          <a:xfrm>
            <a:off x="7918624" y="3227630"/>
            <a:ext cx="3025808" cy="29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83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144E0A1CF47044807E2D0FBAEDCB73" ma:contentTypeVersion="6" ma:contentTypeDescription="Create a new document." ma:contentTypeScope="" ma:versionID="fb56fb93f31ad73ab26ec2bcd9e9ae4d">
  <xsd:schema xmlns:xsd="http://www.w3.org/2001/XMLSchema" xmlns:xs="http://www.w3.org/2001/XMLSchema" xmlns:p="http://schemas.microsoft.com/office/2006/metadata/properties" xmlns:ns3="f7cd85b1-3fc5-4054-b31b-eb0747b40ccf" targetNamespace="http://schemas.microsoft.com/office/2006/metadata/properties" ma:root="true" ma:fieldsID="f35351afb1fab86ed331d3a1677370b2" ns3:_="">
    <xsd:import namespace="f7cd85b1-3fc5-4054-b31b-eb0747b40c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cd85b1-3fc5-4054-b31b-eb0747b40c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cd85b1-3fc5-4054-b31b-eb0747b40ccf" xsi:nil="true"/>
  </documentManagement>
</p:properties>
</file>

<file path=customXml/itemProps1.xml><?xml version="1.0" encoding="utf-8"?>
<ds:datastoreItem xmlns:ds="http://schemas.openxmlformats.org/officeDocument/2006/customXml" ds:itemID="{34A1FD5A-ED4F-4D2B-9F10-97C721FFAC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cd85b1-3fc5-4054-b31b-eb0747b40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F398C1-6A44-4013-AC8C-312451E55C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5BD117-4D0F-4D53-99C2-6E5402B049BF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dcmitype/"/>
    <ds:schemaRef ds:uri="f7cd85b1-3fc5-4054-b31b-eb0747b40ccf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36b85ad-a448-4186-a9af-e3ccad3302c5}" enabled="0" method="" siteId="{536b85ad-a448-4186-a9af-e3ccad3302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1163</Words>
  <Application>Microsoft Office PowerPoint</Application>
  <PresentationFormat>Ecrã Panorâmico</PresentationFormat>
  <Paragraphs>236</Paragraphs>
  <Slides>27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do Office</vt:lpstr>
      <vt:lpstr>Etapa 1 – Grupo I</vt:lpstr>
      <vt:lpstr>Contextualização do Projeto</vt:lpstr>
      <vt:lpstr>Sobre o VetGestLink</vt:lpstr>
      <vt:lpstr>Propósito</vt:lpstr>
      <vt:lpstr>Apresentação de planeamento</vt:lpstr>
      <vt:lpstr>Subdivisão do grupo</vt:lpstr>
      <vt:lpstr>Justificação de escolhas</vt:lpstr>
      <vt:lpstr>Justificação de escolhas (cont.)</vt:lpstr>
      <vt:lpstr>Análise e definição de Requisitos</vt:lpstr>
      <vt:lpstr>Requisitos Funcionais </vt:lpstr>
      <vt:lpstr>Requisitos Funcionais </vt:lpstr>
      <vt:lpstr>Requisitos Funcionais </vt:lpstr>
      <vt:lpstr>Requisitos Funcionais </vt:lpstr>
      <vt:lpstr>Requisitos Funcionais </vt:lpstr>
      <vt:lpstr>Requisitos Funcionais </vt:lpstr>
      <vt:lpstr>Requisitos Funcionais </vt:lpstr>
      <vt:lpstr>Requisitos Funcionais </vt:lpstr>
      <vt:lpstr>Requisitos Não-Funcionais</vt:lpstr>
      <vt:lpstr>Requisitos Não-Funcionais</vt:lpstr>
      <vt:lpstr>Requisitos Não-Funcionais</vt:lpstr>
      <vt:lpstr>Requisitos Não-Funcionais</vt:lpstr>
      <vt:lpstr>Requisitos Não-Funcionais</vt:lpstr>
      <vt:lpstr>Mockups da aplicação</vt:lpstr>
      <vt:lpstr>   Login                                                Esqueceu a senha                                    Marcações</vt:lpstr>
      <vt:lpstr>Historico de Pagamentos                                  Pagamentos</vt:lpstr>
      <vt:lpstr>Notas Dono                                                                 Perfil</vt:lpstr>
      <vt:lpstr>Editar Perfil e  Configurações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Pereira</dc:creator>
  <cp:lastModifiedBy>Pedro Pereira</cp:lastModifiedBy>
  <cp:revision>4</cp:revision>
  <cp:lastPrinted>2025-11-10T15:20:16Z</cp:lastPrinted>
  <dcterms:created xsi:type="dcterms:W3CDTF">2025-11-07T15:34:42Z</dcterms:created>
  <dcterms:modified xsi:type="dcterms:W3CDTF">2025-11-10T15:21:36Z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0x010100D8144E0A1CF47044807E2D0FBAEDCB73</vt:lpwstr>
  </property>
</Properties>
</file>